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bd134859b84491" /><Relationship Type="http://schemas.openxmlformats.org/officeDocument/2006/relationships/extended-properties" Target="/docProps/app.xml" Id="R02e7385e3df24a5f" /><Relationship Type="http://schemas.openxmlformats.org/officeDocument/2006/relationships/officeDocument" Target="/ppt/presentation.xml" Id="R0431cd3f21c34c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1132915b614228"/>
  </p:sldMasterIdLst>
  <p:notesMasterIdLst>
    <p:notesMasterId xmlns:r="http://schemas.openxmlformats.org/officeDocument/2006/relationships" r:id="Rc510f18325c04f63"/>
  </p:notesMasterIdLst>
  <p:sldIdLst>
    <p:sldId xmlns:r="http://schemas.openxmlformats.org/officeDocument/2006/relationships" id="256" r:id="R20a7367cf3464209"/>
    <p:sldId xmlns:r="http://schemas.openxmlformats.org/officeDocument/2006/relationships" id="257" r:id="Rd876209bb44348f4"/>
    <p:sldId xmlns:r="http://schemas.openxmlformats.org/officeDocument/2006/relationships" id="258" r:id="Rb5eaeac031154c2e"/>
    <p:sldId xmlns:r="http://schemas.openxmlformats.org/officeDocument/2006/relationships" id="259" r:id="R402aaa13413f4e12"/>
    <p:sldId xmlns:r="http://schemas.openxmlformats.org/officeDocument/2006/relationships" id="260" r:id="R8bea7cefac97486a"/>
    <p:sldId xmlns:r="http://schemas.openxmlformats.org/officeDocument/2006/relationships" id="261" r:id="R655d34defe844810"/>
    <p:sldId xmlns:r="http://schemas.openxmlformats.org/officeDocument/2006/relationships" id="262" r:id="R55d8679fdcdf44b0"/>
    <p:sldId xmlns:r="http://schemas.openxmlformats.org/officeDocument/2006/relationships" id="263" r:id="Raa7f1b0b90c645ba"/>
    <p:sldId xmlns:r="http://schemas.openxmlformats.org/officeDocument/2006/relationships" id="264" r:id="Ree00205abb5c4d73"/>
    <p:sldId xmlns:r="http://schemas.openxmlformats.org/officeDocument/2006/relationships" id="265" r:id="R08d83d4b23a04d14"/>
    <p:sldId xmlns:r="http://schemas.openxmlformats.org/officeDocument/2006/relationships" id="266" r:id="R32f9688962c34e63"/>
    <p:sldId xmlns:r="http://schemas.openxmlformats.org/officeDocument/2006/relationships" id="267" r:id="R49126dc541bf4eab"/>
    <p:sldId xmlns:r="http://schemas.openxmlformats.org/officeDocument/2006/relationships" id="268" r:id="Rc636483376224a96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e225e94c0047e7" /><Relationship Type="http://schemas.openxmlformats.org/officeDocument/2006/relationships/slideMaster" Target="/ppt/slideMasters/slideMaster1.xml" Id="Re41132915b614228" /><Relationship Type="http://schemas.openxmlformats.org/officeDocument/2006/relationships/notesMaster" Target="/ppt/notesMasters/notesMaster1.xml" Id="Rc510f18325c04f63" /><Relationship Type="http://schemas.openxmlformats.org/officeDocument/2006/relationships/presProps" Target="/ppt/presProps.xml" Id="R1316467ec351482f" /><Relationship Type="http://schemas.openxmlformats.org/officeDocument/2006/relationships/viewProps" Target="/ppt/viewProps.xml" Id="R2ba09837cfbc42c3" /><Relationship Type="http://schemas.openxmlformats.org/officeDocument/2006/relationships/tableStyles" Target="/ppt/tableStyles.xml" Id="R3dacd4d9106d4aaa" /><Relationship Type="http://schemas.openxmlformats.org/officeDocument/2006/relationships/slide" Target="/ppt/slides/slide1.xml" Id="R20a7367cf3464209" /><Relationship Type="http://schemas.openxmlformats.org/officeDocument/2006/relationships/slide" Target="/ppt/slides/slide2.xml" Id="Rd876209bb44348f4" /><Relationship Type="http://schemas.openxmlformats.org/officeDocument/2006/relationships/slide" Target="/ppt/slides/slide3.xml" Id="Rb5eaeac031154c2e" /><Relationship Type="http://schemas.openxmlformats.org/officeDocument/2006/relationships/slide" Target="/ppt/slides/slide4.xml" Id="R402aaa13413f4e12" /><Relationship Type="http://schemas.openxmlformats.org/officeDocument/2006/relationships/slide" Target="/ppt/slides/slide5.xml" Id="R8bea7cefac97486a" /><Relationship Type="http://schemas.openxmlformats.org/officeDocument/2006/relationships/slide" Target="/ppt/slides/slide6.xml" Id="R655d34defe844810" /><Relationship Type="http://schemas.openxmlformats.org/officeDocument/2006/relationships/slide" Target="/ppt/slides/slide7.xml" Id="R55d8679fdcdf44b0" /><Relationship Type="http://schemas.openxmlformats.org/officeDocument/2006/relationships/slide" Target="/ppt/slides/slide8.xml" Id="Raa7f1b0b90c645ba" /><Relationship Type="http://schemas.openxmlformats.org/officeDocument/2006/relationships/slide" Target="/ppt/slides/slide9.xml" Id="Ree00205abb5c4d73" /><Relationship Type="http://schemas.openxmlformats.org/officeDocument/2006/relationships/slide" Target="/ppt/slides/slide10.xml" Id="R08d83d4b23a04d14" /><Relationship Type="http://schemas.openxmlformats.org/officeDocument/2006/relationships/slide" Target="/ppt/slides/slide11.xml" Id="R32f9688962c34e63" /><Relationship Type="http://schemas.openxmlformats.org/officeDocument/2006/relationships/slide" Target="/ppt/slides/slide12.xml" Id="R49126dc541bf4eab" /><Relationship Type="http://schemas.openxmlformats.org/officeDocument/2006/relationships/slide" Target="/ppt/slides/slide13.xml" Id="Rc636483376224a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4a8fdbb14749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3ae52212e04e36" /><Relationship Type="http://schemas.openxmlformats.org/officeDocument/2006/relationships/notesMaster" Target="/ppt/notesMasters/notesMaster1.xml" Id="R7fb4eb3afdd747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846a96a818415c" /><Relationship Type="http://schemas.openxmlformats.org/officeDocument/2006/relationships/notesMaster" Target="/ppt/notesMasters/notesMaster1.xml" Id="R69116c4f13b14a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740e7b1b0943b8" /><Relationship Type="http://schemas.openxmlformats.org/officeDocument/2006/relationships/notesMaster" Target="/ppt/notesMasters/notesMaster1.xml" Id="R7c07168e5fb04e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c515905de2425a" /><Relationship Type="http://schemas.openxmlformats.org/officeDocument/2006/relationships/notesMaster" Target="/ppt/notesMasters/notesMaster1.xml" Id="R2cd8d102630c4f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d45c0c3d7d4a83" /><Relationship Type="http://schemas.openxmlformats.org/officeDocument/2006/relationships/notesMaster" Target="/ppt/notesMasters/notesMaster1.xml" Id="Rd703ebfa6dad4f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4afd3ed26c436c" /><Relationship Type="http://schemas.openxmlformats.org/officeDocument/2006/relationships/notesMaster" Target="/ppt/notesMasters/notesMaster1.xml" Id="R7efea2ed8c1349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2053ac477d4e7d" /><Relationship Type="http://schemas.openxmlformats.org/officeDocument/2006/relationships/notesMaster" Target="/ppt/notesMasters/notesMaster1.xml" Id="R03ff4797bd0241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7f6fda403340e1" /><Relationship Type="http://schemas.openxmlformats.org/officeDocument/2006/relationships/notesMaster" Target="/ppt/notesMasters/notesMaster1.xml" Id="Ra04bf7247c1a45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1d2ea8c20d4943" /><Relationship Type="http://schemas.openxmlformats.org/officeDocument/2006/relationships/notesMaster" Target="/ppt/notesMasters/notesMaster1.xml" Id="R07e0f6de614c4d9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d3cc246ea84f83" /><Relationship Type="http://schemas.openxmlformats.org/officeDocument/2006/relationships/notesMaster" Target="/ppt/notesMasters/notesMaster1.xml" Id="R12c7bc611e6748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813d2ac5874f04" /><Relationship Type="http://schemas.openxmlformats.org/officeDocument/2006/relationships/notesMaster" Target="/ppt/notesMasters/notesMaster1.xml" Id="Re234f92d8a9a4c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bb93088c054da0" /><Relationship Type="http://schemas.openxmlformats.org/officeDocument/2006/relationships/notesMaster" Target="/ppt/notesMasters/notesMaster1.xml" Id="Rc29b3412027642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89c628043844eaa" /><Relationship Type="http://schemas.openxmlformats.org/officeDocument/2006/relationships/notesMaster" Target="/ppt/notesMasters/notesMaster1.xml" Id="Rcd374ad7e9a84b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Neutral branding is used throughout. The agents remain unpublished.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The repository settings keep the agents in Draft and Preview-only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The human review sequence appears in both agent instruction prompts and the human-reviewed-inputs skill.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Configuration source: agents/uk-company-research-analyst.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Configuration source: agents/uk-market-signal-analyst.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Skill sources: skills/uk-equity-evidence/SKILL.md and skills/human-reviewed-inputs/SKILL.md.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The skills/README.md file contains the complete trigger and attachment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The complete editable instruction prompts are stored in each agent folder.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The tools documentation defines two optional Microsoft read-only connector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These gates appear in the agent settings and the human-reviewed-inputs skill.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The POC has no publication or execution-system connection.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Run the supplied evaluation cases after installation in the target tenant.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local implementation pack and public repository configuration, 21 October 2026.</a:t>
            </a:r>
          </a:p>
          <a:p xmlns:a="http://schemas.openxmlformats.org/drawingml/2006/main">
            <a:r>
              <a:t>Public packages: github.com/rahul-bachina/copilot-studio-uk-company-research-agent and github.com/rahul-bachina/copilot-studio-uk-market-signal-agent.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a1f2fd6e2f4e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f424f124b24183" /><Relationship Type="http://schemas.openxmlformats.org/officeDocument/2006/relationships/slideLayout" Target="/ppt/slideLayouts/slideLayout1.xml" Id="Re35d5b52502041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d5b52502041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ec07abf994b3b" /><Relationship Type="http://schemas.openxmlformats.org/officeDocument/2006/relationships/notesSlide" Target="/ppt/notesSlides/notesSlide1.xml" Id="R3cffdb5b821e44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684166d6648e6" /><Relationship Type="http://schemas.openxmlformats.org/officeDocument/2006/relationships/notesSlide" Target="/ppt/notesSlides/notesSlide2.xml" Id="R17fb82a341c146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2b6f4b80243d1" /><Relationship Type="http://schemas.openxmlformats.org/officeDocument/2006/relationships/notesSlide" Target="/ppt/notesSlides/notesSlide3.xml" Id="Re36d53113e4c4e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b36ef82e94397" /><Relationship Type="http://schemas.openxmlformats.org/officeDocument/2006/relationships/notesSlide" Target="/ppt/notesSlides/notesSlide4.xml" Id="R7e7f160ef8074d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d8d5dc92d406e" /><Relationship Type="http://schemas.openxmlformats.org/officeDocument/2006/relationships/notesSlide" Target="/ppt/notesSlides/notesSlide5.xml" Id="R9cc23e4001134d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2e79fa3b94035" /><Relationship Type="http://schemas.openxmlformats.org/officeDocument/2006/relationships/notesSlide" Target="/ppt/notesSlides/notesSlide6.xml" Id="Re5954eed151c4d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edf6362c24b4f" /><Relationship Type="http://schemas.openxmlformats.org/officeDocument/2006/relationships/notesSlide" Target="/ppt/notesSlides/notesSlide7.xml" Id="R09f5222d1c4b46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1fdcd08a34052" /><Relationship Type="http://schemas.openxmlformats.org/officeDocument/2006/relationships/notesSlide" Target="/ppt/notesSlides/notesSlide8.xml" Id="Rbe21d9a7806941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de1ce1d784a0e" /><Relationship Type="http://schemas.openxmlformats.org/officeDocument/2006/relationships/notesSlide" Target="/ppt/notesSlides/notesSlide9.xml" Id="R25efb5eceefe43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5090f86e34497" /><Relationship Type="http://schemas.openxmlformats.org/officeDocument/2006/relationships/notesSlide" Target="/ppt/notesSlides/notesSlide10.xml" Id="Re29947960a30432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e24d224cf4f01" /><Relationship Type="http://schemas.openxmlformats.org/officeDocument/2006/relationships/notesSlide" Target="/ppt/notesSlides/notesSlide11.xml" Id="R2ef3c2c7b8c54b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c1396f64b45a4" /><Relationship Type="http://schemas.openxmlformats.org/officeDocument/2006/relationships/notesSlide" Target="/ppt/notesSlides/notesSlide12.xml" Id="R83b09020aa4f453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095b44399462c" /><Relationship Type="http://schemas.openxmlformats.org/officeDocument/2006/relationships/notesSlide" Target="/ppt/notesSlides/notesSlide13.xml" Id="R00bdb6d661df4d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DFB1A17-3C9D-4CF3-9CD5-FDA956B1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UK Investment Research Agent POC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BC9469-BD17-4EBE-BBA1-87FAAC30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B7D7D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7D7D5"/>
                </a:solidFill>
                <a:latin typeface="Arial"/>
                <a:ea typeface="Arial"/>
                <a:cs typeface="Arial"/>
              </a:rPr>
              <a:t>Implementation in the GitHub Copilot Agent Harness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6D334F4-E688-4E3F-A560-1AAD678E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 user-led agents • uploaded evidence • human review • read-only tools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CA15AF-9C81-4C47-9EBC-07FD933F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9D5D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5DE"/>
                </a:solidFill>
                <a:latin typeface="Arial"/>
                <a:ea typeface="Arial"/>
                <a:cs typeface="Arial"/>
              </a:rPr>
              <a:t>Author: Rahul Bachina </a:t>
            </a:r>
            <a:r>
              <a:rPr sz="1275" b="0">
                <a:solidFill>
                  <a:srgbClr val="C9D5DE"/>
                </a:solidFill>
                <a:latin typeface="Arial"/>
                <a:ea typeface="Arial"/>
                <a:cs typeface="Arial"/>
              </a:rPr>
              <a:t>|  Draft and Preview only  |  </a:t>
            </a:r>
            <a:r>
              <a:rPr sz="1275" b="0">
                <a:solidFill>
                  <a:srgbClr val="C9D5DE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655656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00F20D3-71B6-4E98-A175-9C3603C8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Implementation snapshot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41B7A32-BA79-4C1E-B42E-523615E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What the public reference implementation contains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D5933E-6CCA-469F-B4EA-C1F8B4AA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CD2F991-6C23-4427-AC47-1CFCA66D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independent agents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A0D9F5-4DA9-45DC-92F5-6970CFA0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8097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5BC8C0A-FD76-4FEF-B2C8-F9733DD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86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reusable skills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76B5F2C-9058-4BA5-8943-0D6674F0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097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906696A-2CBC-4E80-9E52-6522C9D4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read-only connector actions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257F27-CF89-4142-BE50-C2556E3C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09750"/>
            <a:ext cx="219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F3473B-15A5-4940-B981-9FFC8BAD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860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human checkpoints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62EA34F-FED1-463F-AE8F-5BC0AFD2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0525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6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GitHub Copilot harness with the environment default reasoning model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6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Open-web grounding enabled and cross-conversation memory disabled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6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Draft status with no channel, connected agent, monitoring job, or execution system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6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Complete local configuration pack under agents, skills, evaluations, and deliverables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34D2715-76D6-417D-BA69-C6EA024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2</a:t>
            </a:r>
          </a:p>
        </p:txBody>
      </p:sp>
    </p:spTree>
    <p:extLst>
      <p:ext uri="{BB962C8B-B14F-4D97-AF65-F5344CB8AC3E}">
        <p14:creationId xmlns:p14="http://schemas.microsoft.com/office/powerpoint/2010/main" val="8497749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8309FDE-614A-449B-A0C1-C1B18D56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User-led research workflow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3A05CBF-C86B-43B6-9B5D-01AEC2AA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The harness performs analysis only after explicit human direction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195A608-DE78-4B50-8391-D902354B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AAF0D9-8244-446D-8289-EBC603DE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8DD1ED1-AB6D-44E7-887F-8AB13B92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38450"/>
            <a:ext cx="190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User names a company or ticker and supplies an optional question, horizon, or files.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885D32C-6849-4126-86D1-21C99C9E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954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6DC9FBF2-4402-4C79-AEB9-3AA9B4B1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33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0B209E0-6D06-4CAE-8AA4-A12EC91C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90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Agent confirms the security, listing, scope, evidence files, and covered periods.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D4BC557-85BC-4458-BC4A-22C9C153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3A4A9A1-2540-4D81-ACEB-6745B6D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Analyse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A409690-9AA8-4DE7-9B7E-652498A0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90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Read-only tools and public web sources support cited research or scoring.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0C04B55-EB5F-44D7-808A-3D518E0D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6954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1EA98E-BB3C-40B5-9AE2-587728D0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33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F91C838-D661-41D5-8368-16915F2E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38450"/>
            <a:ext cx="190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User checks the evidence register, provisional conclusions, and complete draft.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1CA3BEB-3FCE-4DE1-B534-5562FBFC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95450"/>
            <a:ext cx="49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DDB3986-4D0B-499B-917E-33EB7B8D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2E0641D-A06F-4CC2-8284-E34CDE3A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38450"/>
            <a:ext cx="1905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Word and PDF export requires the exact phrase APPROVE EXPORT.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87FBD93-8794-4FE8-8201-47C7B23A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No step runs on a schedule. The user initiates every research cycle and retains every decision.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70632A3-DCCA-420F-BF13-B3271C52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3</a:t>
            </a:r>
          </a:p>
        </p:txBody>
      </p:sp>
    </p:spTree>
    <p:extLst>
      <p:ext uri="{BB962C8B-B14F-4D97-AF65-F5344CB8AC3E}">
        <p14:creationId xmlns:p14="http://schemas.microsoft.com/office/powerpoint/2010/main" val="1073088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4320556-9C2C-449F-8C82-1867F765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UK Company Research Analyst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C481188-2742-45E7-8604-6793ED46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Balanced company research without an investment rating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0EEC3C-731A-48DA-AF60-89BA95EA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6F2B747-C99D-42AB-AA77-D10A4981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Confirms legal name, LSE ticker, and primary listing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Uses a 12-month default horizon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Separates reported facts, third-party views, and analyst inference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States unresolved questions and missing evidence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16875B2-4619-4DBD-AF08-DB992F333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Required research structure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07F3C60-1813-441A-A86E-6C847601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Business model, segments, geography, and customers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Strategy, competition, industry dynamics, management, and governance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Revenue, profitability, cash flow, leverage, and valuation evidence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Announcements, news, catalysts, risks, uncertainties, and dated sources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DA28107-1013-4941-BEA4-C7842769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Human gate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15598F-62B0-44D0-A7D3-18976BEE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866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The user confirms identity, scope, uploaded evidence, and the complete draft before export can be requested.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AB9BF4-3DD4-4F1F-8348-252E171E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4</a:t>
            </a:r>
          </a:p>
        </p:txBody>
      </p:sp>
    </p:spTree>
    <p:extLst>
      <p:ext uri="{BB962C8B-B14F-4D97-AF65-F5344CB8AC3E}">
        <p14:creationId xmlns:p14="http://schemas.microsoft.com/office/powerpoint/2010/main" val="1822700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AAAF416-49CB-4E93-B74E-3E9B0702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UK Market Signal Analyst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12A219-EABA-474B-A259-F093B128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Independent five-pillar assessment for a 3–12 month horizon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30B584-CF35-4FB0-AB87-95C9C9BE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F211A68-2434-4475-8117-4130ADE0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Fundamentals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AA7E93-AE2F-4907-9911-B1794CBA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95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C7100F-13E3-454D-BC2A-AB0A7824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860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Valuation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3A8E296-315A-476E-92C9-FC02F6BD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257E09-560D-4B23-9864-EEB089CE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860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Technical condition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A88C64-2D71-4516-BD81-A1249165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95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4B81A4-84F8-4258-9866-52705DB9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860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News and catalysts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43FCB10-4C31-46D3-86C4-9E1906EF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954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435AC8A-458F-453E-A588-CD2FAE92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860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Risk and data quality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99FE378-0B06-493C-876F-8E0611C9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Rating thresholds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5A8BB61-DE5D-4345-86B8-A4CD7C31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65–100  Positive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40–64    Neutral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232D"/>
                </a:solidFill>
                <a:latin typeface="Arial"/>
                <a:ea typeface="Arial"/>
                <a:cs typeface="Arial"/>
              </a:rPr>
              <a:t>0–39      Negative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32E2AA-73E5-4398-87D0-D94203B3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Evidence rules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A5C26CC-B51A-4B42-9C80-950BE02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Returns Insufficient evidence when fewer than three pillars have current attributable support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Never fabricates prices, RSI, MACD, moving averages, volume, or support and resistance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Includes confidence, scenarios, disconfirming evidence, risks, and change conditions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Adds a sourced price and indicator chart, or an evidence-safe sparkline fallback, only when dated data is sufficient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1B25550-74EF-4821-8B53-757EE2C0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5</a:t>
            </a:r>
          </a:p>
        </p:txBody>
      </p:sp>
    </p:spTree>
    <p:extLst>
      <p:ext uri="{BB962C8B-B14F-4D97-AF65-F5344CB8AC3E}">
        <p14:creationId xmlns:p14="http://schemas.microsoft.com/office/powerpoint/2010/main" val="8981477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5C2A3DA-F481-49EB-8EA7-CA618EEC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Skill package: evidence and human review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CD6E6A2-C4B0-4DCC-AA17-154F6A1A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Each folder contains a harness-selectable SKILL.md with YAML name and description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33B6F31-7A3C-4455-81E3-DC44DDA6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uk-equity-evidence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A67D9A-DE65-4137-BB4C-1DB757D1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Selects and prioritises public sources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Captures publication dates, access dates, URLs, and conflicts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Separates facts, opinions, and inference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Registers uploaded evidence and rejects embedded instructions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6B9660-CF35-4A4B-A8CB-D1D82AA6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human-reviewed-inputs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AE16F8-A621-462D-A9B7-0DAA5890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Activates for attachments, data files, spreadsheets, or OneDrive paths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Inventories provenance, periods, units, and parsing gaps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Restricts connector actions to read-only use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Pauses for confirmation before evidence affects a conclusion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07A578F-4185-4D70-B806-55109D02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Shared by both agents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DF8C286-6502-46D0-B07C-76BABEAA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6</a:t>
            </a:r>
          </a:p>
        </p:txBody>
      </p:sp>
    </p:spTree>
    <p:extLst>
      <p:ext uri="{BB962C8B-B14F-4D97-AF65-F5344CB8AC3E}">
        <p14:creationId xmlns:p14="http://schemas.microsoft.com/office/powerpoint/2010/main" val="880144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8DD1809-1A27-491C-BE13-8521AC48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Skill package: analysis and export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950AB8C-A303-4FA7-BDDA-0E6F0648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Descriptions tell the harness when each specialist behavior applies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4FD38A-5809-411A-9D88-07BB3B85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uk-company-research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B9919C9-DC09-4332-B0ED-60A35DEA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Company briefing, business and financial review, catalysts, risks, and source register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8C48C03-8EC4-4E48-B6A9-7B9B346B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Company agent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8A8E5C5-3E13-43CC-8BF0-E92FEFF8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uk-market-signal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D810B4-24D3-4238-8CB7-156C378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908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Five-pillar score, evidence threshold, confidence, scenarios, and change conditions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51640F8-E233-47F9-A4CC-4E0AAE80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908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Signal agent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3DC5FEE-84F4-4AC6-BBC2-5958629A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verified-market-chart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BAB4008-F582-472B-862E-7307459E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Sourced trading-style visual, reproducible indicators, and sparkline fallback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DB358F0-1BB7-4935-A272-E2960A5B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576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Signal agent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418262A-1CEC-4A0A-B515-138A0AC8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approved-report-export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C47CA55-4165-481F-B861-0E609B6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24400"/>
            <a:ext cx="542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Exact approval gate and matching neutral Word/PDF report creation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370A8B4-7643-43F9-BB9C-CDDE832C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24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Both agents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55224F6-0AB4-4C62-ACA0-D718B075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Folder rule: skills/&lt;skill-name&gt;/SKILL.md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7F5F864-4CCF-4716-84EA-70F58C4D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7</a:t>
            </a:r>
          </a:p>
        </p:txBody>
      </p:sp>
    </p:spTree>
    <p:extLst>
      <p:ext uri="{BB962C8B-B14F-4D97-AF65-F5344CB8AC3E}">
        <p14:creationId xmlns:p14="http://schemas.microsoft.com/office/powerpoint/2010/main" val="380142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051CDA0-59BD-4277-B86C-9F2EE77A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Instruction prompt architecture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675AD17-24D9-4280-8A3A-359C8CB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The main prompt sets boundaries while skills supply reusable procedures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2189370-C546-440B-B990-E21054F0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Identity and scope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3C801E-4F86-42B6-95DF-601430CC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Role, UK-listed universe, horizon, and agent independence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D0050CC-EAF9-46AB-A8EB-8FE62B76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1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Evidence discipline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A589ED2-F047-47BD-BFBE-4D509EF8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28825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Source hierarchy, citations, dates, conflicts, and missing data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253A19-D5CE-4B88-9203-DBB003A2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Uploaded inputs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4495259-17A8-457E-9D85-B14824F1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Provenance register, prompt-injection defence, and source separation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E97EE55-664A-4E5A-BD15-7BF63B58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0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8FDC7AF-9D36-4466-A88F-A453E62E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Identity, scope, evidence, provisional conclusion, and draft checkpoints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D192870-2916-443B-A840-20936F6B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Required output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8DD5FAC-307F-4E46-B60B-04A28543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Research structure or five-pillar score with scenarios and limitations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61D7C5E-1409-4530-8954-F3058705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81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Export and guardrails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D24C815-B242-482E-8015-58C5A1D1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91075"/>
            <a:ext cx="485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Exact phrase, neutral reports, no advice, publication, monitoring, or trading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8A42BC-FD62-4560-9716-33D49C6F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8</a:t>
            </a:r>
          </a:p>
        </p:txBody>
      </p:sp>
    </p:spTree>
    <p:extLst>
      <p:ext uri="{BB962C8B-B14F-4D97-AF65-F5344CB8AC3E}">
        <p14:creationId xmlns:p14="http://schemas.microsoft.com/office/powerpoint/2010/main" val="17306082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55BF1E1-A902-4F6A-9035-ADB161677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Tools and uploaded evidence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33B7F1A-56B4-4130-9BEA-C011A3BA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Tools expand evidence access without granting write or execution authority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49370EB-1A02-4DCD-B7C0-ACBB6A73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Open-web grounding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D909E0-C475-44A4-917F-C1D9A679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Searches attributable public evidence using the defined UK source hierarchy.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E043EE5-2209-4B93-9D32-393EB157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Get file content using path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9F466A9-ADB9-4B6B-8DD0-4E7A469A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Reads only a OneDrive file path that the user identifies for the current request.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D1C8B3A-B052-49B6-AED5-CEE689AF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List rows present in a table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AFEB5CC-AE2F-4135-B7EA-B311DE8B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764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Reads rows from a user-identified Excel workbook and table without changing the source.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A0F3F7A-9F0E-4677-B956-623E0EC2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Native chat file upload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829B4A6-45C2-4E72-9072-5DA07059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Accepts PDF, Word, text, CSV, and spreadsheet evidence for the current conversation.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56FB8B7-BB6F-49AD-A561-341B614A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Approved file generation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B54B0B-A11A-4A12-889A-6FF535B5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767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Creates matching Word and PDF reports only after complete-draft review and APPROVE EXPORT. The Signal report includes the verified chart or chart-unavailable disclosure.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288470A-1537-4642-BC6E-8FA9D4C1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Explicitly unavailable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D1E5D25-6C7B-4E4C-937F-76D179B6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7670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No write-back, external messaging, watchlist updates, portfolio actions, monitoring, or trades.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FF9E15C-8DDB-45D0-B26D-462AC9F1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9</a:t>
            </a:r>
          </a:p>
        </p:txBody>
      </p:sp>
    </p:spTree>
    <p:extLst>
      <p:ext uri="{BB962C8B-B14F-4D97-AF65-F5344CB8AC3E}">
        <p14:creationId xmlns:p14="http://schemas.microsoft.com/office/powerpoint/2010/main" val="14267672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5EAF39F-9E44-4BBE-BF73-8C25F663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Human-in-the-loop control points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E8E259E-7683-4149-931C-890E172C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2C7C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2C7C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A2D610-6A2A-454E-81DE-C1256BAE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9B4294E-0155-4233-8BE2-DA083B9D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E3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3EB"/>
                </a:solidFill>
                <a:latin typeface="Arial"/>
                <a:ea typeface="Arial"/>
                <a:cs typeface="Arial"/>
              </a:rPr>
              <a:t>Confirm company, ticker, and listing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626BCE-57B2-4F36-8CD0-8564EA14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2C7C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2C7C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EF20FCE-8C9B-482E-A12E-5E0E6088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145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C80C6A5-FFB4-4271-808C-A78C40AD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1457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E3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3EB"/>
                </a:solidFill>
                <a:latin typeface="Arial"/>
                <a:ea typeface="Arial"/>
                <a:cs typeface="Arial"/>
              </a:rPr>
              <a:t>Confirm horizon, question, files, and periods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FAB3B-CF66-4EA5-BEFD-111ADD8F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2C7C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2C7C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F464FBA-8AEE-4B11-842E-60802121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480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6EE58D3-821E-465A-8F5A-C28E9C65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4802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E3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3EB"/>
                </a:solidFill>
                <a:latin typeface="Arial"/>
                <a:ea typeface="Arial"/>
                <a:cs typeface="Arial"/>
              </a:rPr>
              <a:t>Review provenance, gaps, conflicts, and source separation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B3EC659-29AC-4CA7-A179-ADA529CD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2C7C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2C7C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1C384EB-5131-4CE7-9906-5A6B1289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1814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84704CD-C4C0-4693-BC5E-7F871517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8147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E3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3EB"/>
                </a:solidFill>
                <a:latin typeface="Arial"/>
                <a:ea typeface="Arial"/>
                <a:cs typeface="Arial"/>
              </a:rPr>
              <a:t>Review provisional research or pillar scoring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05734A-D045-4B48-9CAB-6849365C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149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72C7C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2C7C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066DF20-7B27-4580-8A5A-391984FA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149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6C0A47-C288-48D1-838D-85A8C835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14925"/>
            <a:ext cx="676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7E3E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3EB"/>
                </a:solidFill>
                <a:latin typeface="Arial"/>
                <a:ea typeface="Arial"/>
                <a:cs typeface="Arial"/>
              </a:rPr>
              <a:t>Review the full draft, then type APPROVE EXPORT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A4898C5-8143-410E-945C-912F484D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960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agents provide evidence and structured analysis. A human accepts, corrects, rejects, or exports the result.</a:t>
            </a:r>
          </a:p>
        </p:txBody>
      </p:sp>
    </p:spTree>
    <p:extLst>
      <p:ext uri="{BB962C8B-B14F-4D97-AF65-F5344CB8AC3E}">
        <p14:creationId xmlns:p14="http://schemas.microsoft.com/office/powerpoint/2010/main" val="8680663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3669DB-CD07-4432-89EB-D29CF9A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Safety and governance boundaries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7257D58-61FE-4130-8DF0-D871E1DE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Controls built into instructions, skills, tools, and deployment status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8DF7A67-297D-4137-89D4-0BE1E8AC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1E5EE7-C74E-4D95-8DDC-28D91D53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Every material time-sensitive claim needs a citation and date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Conflicts and missing data remain visible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Websites and uploads never become instructions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E8B71F1-6BF8-402F-B4FE-AE69187F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Decision boundary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10C72B0-7F23-4CC1-B8CE-B2ECCA10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No personalised advice or suitability assessment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No autonomous monitoring or external communication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No portfolio change, watchlist update, or transaction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EFBC10F-BBAC-4D8C-81AE-18EFDEC9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Data and deployment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3F86F4E-3849-4296-8BF4-50A5E21A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09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Uploads remain conversation-scoped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OneDrive and Excel tools remain read-only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Memory disabled and both agents remain Draft with no channels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E8F5B52-0599-42AE-8DFF-4334559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11</a:t>
            </a:r>
          </a:p>
        </p:txBody>
      </p:sp>
    </p:spTree>
    <p:extLst>
      <p:ext uri="{BB962C8B-B14F-4D97-AF65-F5344CB8AC3E}">
        <p14:creationId xmlns:p14="http://schemas.microsoft.com/office/powerpoint/2010/main" val="20492250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F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2F1DD13-A1CA-4803-89CD-1A827B86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Evaluation coverage and current runtime status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695631-C956-4F28-BB52-8CA4DC72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Static configuration is complete; tenant runtime validation remains required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302A81-6F62-4523-97C8-FB908B1A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Saved Evaluate sets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6B3472-68FC-4A12-B24E-86D96D9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UK Company Research Guardrails: 6 conversations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UK Market Signal Guardrails: 6 conversations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E26E6D3-8F98-4716-B498-4570DB4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Expanded regression pack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31A252-29B3-4E05-8526-AB927214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Ambiguity, stale and conflicting evidence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Technical-data gaps and score thresholds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Uploaded prompt injection and provenance</a:t>
            </a:r>
          </a:p>
          <a:p xmlns:a="http://schemas.openxmlformats.org/drawingml/2006/main">
            <a:pPr marL="228600" indent="-114300" algn="l">
              <a:spcAft>
                <a:spcPts val="1100"/>
              </a:spcAft>
              <a:buChar char="•"/>
              <a:defRPr sz="142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Read-only tools, non-autonomy, advice, trade, and export gates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24F178D-D06A-498D-A332-802D9BE9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Runtime limitation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DC0C4A-5E80-46E3-A9DD-69DF830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19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Run the saved Evaluate sets after installation in the target tenant. Validate Preview responses, uploaded evidence handling, and approved Word/PDF generation before any broader deployment.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8156C02-72BE-4C7B-BE2D-1873E6BA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12</a:t>
            </a:r>
          </a:p>
        </p:txBody>
      </p:sp>
    </p:spTree>
    <p:extLst>
      <p:ext uri="{BB962C8B-B14F-4D97-AF65-F5344CB8AC3E}">
        <p14:creationId xmlns:p14="http://schemas.microsoft.com/office/powerpoint/2010/main" val="12613043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0300D96-E475-4B45-995C-8D512CA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Editable implementation package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CBF4F8-A7D5-469E-AFD3-6D991393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0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Everything needed to review, change, or recreate the POC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965791A-2537-40BB-AD93-D28933CE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agents/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5DC5E3-7A01-449E-AA45-108991DA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Descriptions, complete instruction prompts, settings, model and memory choices, suggested prompts, tools, skill attachments, and approval gates.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D006E9F-42DC-48DB-9A48-9866C28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skills/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E3D2A37-7934-4B3F-82FE-9379C620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670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Six named folders. Every folder contains SKILL.md with YAML name and description plus selection-focused instructions.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3BD3836-FC98-4AEF-9D11-0F470F12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7A7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7A75"/>
                </a:solidFill>
                <a:latin typeface="Arial"/>
                <a:ea typeface="Arial"/>
                <a:cs typeface="Arial"/>
              </a:rPr>
              <a:t>evaluations/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5166C2B-1D03-4E33-AD5F-624D264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1475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Agent-specific regression cases, acceptance criteria, and tenant validation guidance.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D216AE7-9740-4F19-935E-0C71DDED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B5C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B5C8A"/>
                </a:solidFill>
                <a:latin typeface="Arial"/>
                <a:ea typeface="Arial"/>
                <a:cs typeface="Arial"/>
              </a:rPr>
              <a:t>deliverables/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A4E40C3-A75D-402D-BFEB-200B1688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823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8232D"/>
                </a:solidFill>
                <a:latin typeface="Arial"/>
                <a:ea typeface="Arial"/>
                <a:cs typeface="Arial"/>
              </a:rPr>
              <a:t>This editable PowerPoint implementation deck. Generated investment reports remain approval-gated and conversation-only.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1E27067-2ED0-4EA9-87DF-314FD6AA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Next validation step: run both saved Evaluate sets, then test a reviewed draft and approved Word/PDF export in the target tenant.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A88093B-2414-4B08-A3C4-DD81DBB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5637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6370"/>
                </a:solidFill>
                <a:latin typeface="Arial"/>
                <a:ea typeface="Arial"/>
                <a:cs typeface="Arial"/>
              </a:rPr>
              <a:t>POC — Public Information Only     13</a:t>
            </a:r>
          </a:p>
        </p:txBody>
      </p:sp>
    </p:spTree>
    <p:extLst>
      <p:ext uri="{BB962C8B-B14F-4D97-AF65-F5344CB8AC3E}">
        <p14:creationId xmlns:p14="http://schemas.microsoft.com/office/powerpoint/2010/main" val="1906439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2026-10-21T08:37:07.0370000Z</dcterms:created>
  <dcterms:modified xsi:type="dcterms:W3CDTF">2026-10-21T08:37:07.0370000Z</dcterms:modified>
</coreProperties>
</file>